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Merriweather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2F3F50-4233-4259-9F09-4CA3577D4FBD}">
  <a:tblStyle styleId="{B12F3F50-4233-4259-9F09-4CA3577D4F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erriweather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5.xml"/><Relationship Id="rId33" Type="http://schemas.openxmlformats.org/officeDocument/2006/relationships/font" Target="fonts/DMSans-bold.fntdata"/><Relationship Id="rId10" Type="http://schemas.openxmlformats.org/officeDocument/2006/relationships/slide" Target="slides/slide4.xml"/><Relationship Id="rId32" Type="http://schemas.openxmlformats.org/officeDocument/2006/relationships/font" Target="fonts/DMSans-regular.fntdata"/><Relationship Id="rId13" Type="http://schemas.openxmlformats.org/officeDocument/2006/relationships/slide" Target="slides/slide7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6.xml"/><Relationship Id="rId34" Type="http://schemas.openxmlformats.org/officeDocument/2006/relationships/font" Target="fonts/DM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3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89859"/>
            <a:ext cx="110490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820316"/>
            <a:ext cx="116016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Attijariwafa Bank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Data Pipeline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1458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Hybrid, Real-Time &amp; Batch Data Platform for Retail Banking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6089"/>
            <a:ext cx="5238750" cy="364212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Executive Summary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046089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Platform Overview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560439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hybrid platform unifies ATM, card, wallet, and out-of-cash transaction data using a modern medallion architecture (Bronze/Silver/Gold).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5125" y="2379464"/>
            <a:ext cx="457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715125" y="2950964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Outcome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3465314"/>
            <a:ext cx="4572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fully portable transformation layer validated against three cloud targets with zero logic duplication, orchestrated via Apache Airflow.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355475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Processes 17M+ transaction records.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4019550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Hybrid execution: Local (DuckDB) to Cloud (Snowflake/Fabric).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475863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184 automated dbt tests ensuring 100% data quality.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522342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Real-time Kafka alerting for out-of-cash events.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5475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195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5863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2342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2259"/>
            <a:ext cx="5238750" cy="25297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2935634"/>
            <a:ext cx="457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04875" y="3507134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Stack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4021484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Built using PySpark, Delta Lake, and dbt. Every rule is written once and runs everywhere.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381750" y="2602259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Philosophy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381750" y="3116609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platform follows the "Write Once, Run Anywhere" principle. The choice of warehouse is a configuration detail, not an architectural commitment.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381750" y="4110930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Modeled on a mid-sized Moroccan retail bank, supporting 2,000 customers and 6,146 active cards across 12 regions.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5040"/>
            <a:ext cx="3492549" cy="2804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65040"/>
            <a:ext cx="3492549" cy="2804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65040"/>
            <a:ext cx="3492549" cy="28040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Challenge: Data Silos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798415"/>
            <a:ext cx="28257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04875" y="336991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Fragmentation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04875" y="3884265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Inconsistent semantics across ATM, Card, and Wallet gateways.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3174" y="2798415"/>
            <a:ext cx="28257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4683174" y="336991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Resolution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83174" y="3884265"/>
            <a:ext cx="28257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Missing link between masked PAN numbers and customer master records.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1474" y="2798415"/>
            <a:ext cx="28257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461474" y="336991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High Latency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61474" y="3884265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Batch refreshes were too slow for critical out-of-cash ATM events.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Objectives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2689919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Primary Goals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381750" y="2689919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Extended Goals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04875" y="318521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Build a portable 3-layer Medallion pipeline.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04875" y="365000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 all business logic in dbt.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04875" y="411480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Automated test-driven data quality framework.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04875" y="457959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Orchestrated landing-to-gold flows via Airflow.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715125" y="318521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Benchmark Snowflake vs. Microsoft Fabric.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15125" y="365000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Kafka-based real-time ingestion path.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715125" y="411480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monitoring with Grafana.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15125" y="457959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Containerized deployment via Astronomer.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8521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000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48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7959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18521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65000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1148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57959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9780"/>
            <a:ext cx="4953000" cy="3756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762000" y="571500"/>
            <a:ext cx="5000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Architecture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161925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architecture unifies batch and streaming flows into a shared Medallion structure.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904875" y="3034605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Ingestion: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Kafka + PySpark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04875" y="3480345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Storage: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Delta Lake (S3/Local)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04875" y="3926085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Compute: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DuckDB / Databricks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Hybrid Execution Parity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71500" y="2543175"/>
            <a:ext cx="11049000" cy="2838301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19"/>
          <p:cNvGraphicFramePr/>
          <p:nvPr/>
        </p:nvGraphicFramePr>
        <p:xfrm>
          <a:off x="571500" y="2543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{B12F3F50-4233-4259-9F09-4CA3577D4FBD}</a:tableStyleId>
              </a:tblPr>
              <a:tblGrid>
                <a:gridCol w="3119875"/>
                <a:gridCol w="3855100"/>
                <a:gridCol w="4074025"/>
              </a:tblGrid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Engine (Dev)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Cloud Engine (Prod)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PySpark / DuckDB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Snowflake / Fabric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Filesystem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ADLS Gen2 / S3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Transformation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dbt-duckdb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dbt-snowflake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Orchestration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Astronomer (Local)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Managed Airflow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19"/>
          <p:cNvSpPr/>
          <p:nvPr/>
        </p:nvSpPr>
        <p:spPr>
          <a:xfrm>
            <a:off x="571500" y="3658492"/>
            <a:ext cx="3119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691383" y="3658492"/>
            <a:ext cx="3855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546478" y="3658492"/>
            <a:ext cx="4074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71500" y="4228058"/>
            <a:ext cx="3119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691383" y="4228058"/>
            <a:ext cx="3855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546478" y="4228058"/>
            <a:ext cx="4074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71500" y="4797623"/>
            <a:ext cx="3119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691383" y="4797623"/>
            <a:ext cx="3855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546478" y="4797623"/>
            <a:ext cx="4074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71500" y="5367188"/>
            <a:ext cx="3119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691383" y="5367188"/>
            <a:ext cx="3855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546478" y="5367188"/>
            <a:ext cx="40740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Local Dev Efficiency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2552700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DuckDB?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571500" y="3067050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Chosen for its embedded, zero-admin nature and native Delta Lake reader.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125" y="2886075"/>
            <a:ext cx="457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6715125" y="3457575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Development cycles reduced from minutes (Cloud) to seconds (Local) using DuckDB's in-process engine.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904875" y="37870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Respects Delta transaction logs.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04875" y="425187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SQL dialect parity with Snowflake.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904875" y="471666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Near-zero latency for local testing.</a:t>
            </a:r>
            <a:endParaRPr/>
          </a:p>
        </p:txBody>
      </p:sp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8708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5187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1666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CAA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/>
          <p:nvPr/>
        </p:nvSpPr>
        <p:spPr>
          <a:xfrm>
            <a:off x="5619750" y="2607915"/>
            <a:ext cx="9525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295275" y="2950815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Medallion Pipeline Layers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571500" y="39414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Bronze • Silver • Gold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Bronze: Raw Ingestion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1447800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Source of Truth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571500" y="1962150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Consolidates Parquet batches into queryable tables without any transformation.</a:t>
            </a:r>
            <a:endParaRPr/>
          </a:p>
        </p:txBody>
      </p:sp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47800"/>
            <a:ext cx="5238750" cy="703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904875" y="26821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159 ATM Masters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904875" y="314697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4.06M Card/ATM Trans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904875" y="361176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13.3M Historical Trans (Kaggle)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904875" y="4076551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63.8K Out-of-Cash events</a:t>
            </a:r>
            <a:endParaRPr/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8218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4697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1176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76551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0790"/>
            <a:ext cx="3492549" cy="2232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750790"/>
            <a:ext cx="3492549" cy="2232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750790"/>
            <a:ext cx="3492549" cy="223257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Silver: Clean &amp; Valid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904875" y="308416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Normalization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904875" y="3598515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Currency parsing (MAD extraction) and column type casting.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4683174" y="308416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Deduplication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4683174" y="3598515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Window-function logic based on natural transaction keys (REFNUM).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8461474" y="308416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Quarantine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461474" y="3598515"/>
            <a:ext cx="28257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Malformed records (negative amounts) are routed to audit tables.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52700"/>
            <a:ext cx="5238750" cy="262875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Gold: Dimensional Model</a:t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571500" y="2552700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Analytical Hub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71500" y="3067050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Built with dbt to provide high-performance marts for Power BI consumption.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715125" y="2886075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SCD Type 2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6715125" y="3400425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Tracking customer demographics and card status changes over time to reconstruct historical risk profiles.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904875" y="37870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Fact Tables: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ATM/Card/Wallet/OOC.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904875" y="425187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Dimensions: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Customer, Card, Merchant, Geography.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904875" y="471666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Marts: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Fraud Risk, ATM Performance.</a:t>
            </a:r>
            <a:endParaRPr/>
          </a:p>
        </p:txBody>
      </p:sp>
      <p:pic>
        <p:nvPicPr>
          <p:cNvPr descr="image.png" id="275" name="Google Shape;27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8708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5187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1666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Quality Assurance</a:t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571500" y="45728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Total: 184 passing dbt tests covering schema, referential, and business logic.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8009"/>
            <a:ext cx="5238750" cy="1958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88009"/>
            <a:ext cx="5238750" cy="1958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Debugging Discipline</a:t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904875" y="3221384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Case #1: Duplicates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904875" y="3735734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Delta Lake's file-versioning caused stale files to be read.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Fix: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Switched to DuckDB's delta_scan().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6715125" y="3221384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Case #6: Silent Loss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6715125" y="3735734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Registration macros succeeded but never committed.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Fix: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Added explicit SQL COMMIT statements.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Cloud Benchmarking (CDC)</a:t>
            </a: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571500" y="250031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Comparison of Gold-layer build performance using shared Silver storage.</a:t>
            </a: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571500" y="3136552"/>
            <a:ext cx="11049000" cy="226873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9" name="Google Shape;309;p27"/>
          <p:cNvGraphicFramePr/>
          <p:nvPr/>
        </p:nvGraphicFramePr>
        <p:xfrm>
          <a:off x="571500" y="31365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{B12F3F50-4233-4259-9F09-4CA3577D4FBD}</a:tableStyleId>
              </a:tblPr>
              <a:tblGrid>
                <a:gridCol w="2694375"/>
                <a:gridCol w="2713725"/>
                <a:gridCol w="2500450"/>
                <a:gridCol w="3140425"/>
              </a:tblGrid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Azure Fabric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Databricks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Snowflake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CDC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Medium (Stage)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Query Perf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Ultra-High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Excellent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Scale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Serverless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Unified Lake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Elastic WH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" name="Google Shape;310;p27"/>
          <p:cNvSpPr/>
          <p:nvPr/>
        </p:nvSpPr>
        <p:spPr>
          <a:xfrm>
            <a:off x="571500" y="4251870"/>
            <a:ext cx="269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3265884" y="4251870"/>
            <a:ext cx="2713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979616" y="4251870"/>
            <a:ext cx="2500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8480077" y="4251870"/>
            <a:ext cx="31404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571500" y="4821435"/>
            <a:ext cx="269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3265884" y="4821435"/>
            <a:ext cx="2713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5979616" y="4821435"/>
            <a:ext cx="2500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8480077" y="4821435"/>
            <a:ext cx="31404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71500" y="5391001"/>
            <a:ext cx="2694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3265884" y="5391001"/>
            <a:ext cx="27137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5979616" y="5391001"/>
            <a:ext cx="25004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8480077" y="5391001"/>
            <a:ext cx="31404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Real-Time Kafka Flow</a:t>
            </a:r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 txBox="1"/>
          <p:nvPr/>
        </p:nvSpPr>
        <p:spPr>
          <a:xfrm>
            <a:off x="571500" y="2552700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Out-of-Cash Alerts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571500" y="3067050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Kafka decouples event producers from the alerting consumer to provide sub-minute latency.</a:t>
            </a:r>
            <a:endParaRPr/>
          </a:p>
        </p:txBody>
      </p:sp>
      <p:pic>
        <p:nvPicPr>
          <p:cNvPr descr="image.png" id="331" name="Google Shape;33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5125" y="2886075"/>
            <a:ext cx="457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8"/>
          <p:cNvSpPr txBox="1"/>
          <p:nvPr/>
        </p:nvSpPr>
        <p:spPr>
          <a:xfrm>
            <a:off x="6715125" y="3457575"/>
            <a:ext cx="4572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Operational urgency: An ATM out of cash for 6 hours is lost revenue. Kafka ensures replenishment teams are notified instantly.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904875" y="37870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Spark Structured Streaming.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904875" y="425187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Micro-batch writes to Bronze.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904875" y="471666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Dual Consumption: Speed vs. Completeness.</a:t>
            </a:r>
            <a:endParaRPr/>
          </a:p>
        </p:txBody>
      </p:sp>
      <p:pic>
        <p:nvPicPr>
          <p:cNvPr descr="image.png" id="336" name="Google Shape;33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8708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5187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1666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9"/>
          <p:cNvSpPr txBox="1"/>
          <p:nvPr/>
        </p:nvSpPr>
        <p:spPr>
          <a:xfrm>
            <a:off x="6858000" y="2064990"/>
            <a:ext cx="5000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Unified Monitoring</a:t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6667500" y="206499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6667500" y="311274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Dual tracking for engineering and business stakeholders.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7000875" y="371088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Grafana: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Pipeline task health and row counts.</a:t>
            </a:r>
            <a:endParaRPr/>
          </a:p>
        </p:txBody>
      </p:sp>
      <p:sp>
        <p:nvSpPr>
          <p:cNvPr id="348" name="Google Shape;348;p29"/>
          <p:cNvSpPr txBox="1"/>
          <p:nvPr/>
        </p:nvSpPr>
        <p:spPr>
          <a:xfrm>
            <a:off x="7000875" y="4175670"/>
            <a:ext cx="461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Power BI: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Fraud scoring and ATM replenishment analysis.</a:t>
            </a:r>
            <a:endParaRPr/>
          </a:p>
        </p:txBody>
      </p:sp>
      <p:pic>
        <p:nvPicPr>
          <p:cNvPr descr="image.png" id="349" name="Google Shape;34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71088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417567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5" name="Google Shape;3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Security &amp; Compliance</a:t>
            </a:r>
            <a:endParaRPr/>
          </a:p>
        </p:txBody>
      </p:sp>
      <p:sp>
        <p:nvSpPr>
          <p:cNvPr id="357" name="Google Shape;357;p3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571500" y="2369939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PII Protection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571500" y="2884289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Stringent controls on sensitive banking data.</a:t>
            </a:r>
            <a:endParaRPr/>
          </a:p>
        </p:txBody>
      </p:sp>
      <p:pic>
        <p:nvPicPr>
          <p:cNvPr descr="image.png" id="360" name="Google Shape;36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69939"/>
            <a:ext cx="5238750" cy="299442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 txBox="1"/>
          <p:nvPr/>
        </p:nvSpPr>
        <p:spPr>
          <a:xfrm>
            <a:off x="904875" y="333002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PAN masking at ingestion.</a:t>
            </a:r>
            <a:endParaRPr/>
          </a:p>
        </p:txBody>
      </p:sp>
      <p:sp>
        <p:nvSpPr>
          <p:cNvPr id="362" name="Google Shape;362;p30"/>
          <p:cNvSpPr txBox="1"/>
          <p:nvPr/>
        </p:nvSpPr>
        <p:spPr>
          <a:xfrm>
            <a:off x="904875" y="379481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Income column-level restriction.</a:t>
            </a:r>
            <a:endParaRPr/>
          </a:p>
        </p:txBody>
      </p:sp>
      <p:sp>
        <p:nvSpPr>
          <p:cNvPr id="363" name="Google Shape;363;p30"/>
          <p:cNvSpPr txBox="1"/>
          <p:nvPr/>
        </p:nvSpPr>
        <p:spPr>
          <a:xfrm>
            <a:off x="904875" y="425960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Role-Based Access Control (RBAC).</a:t>
            </a:r>
            <a:endParaRPr/>
          </a:p>
        </p:txBody>
      </p:sp>
      <p:sp>
        <p:nvSpPr>
          <p:cNvPr id="364" name="Google Shape;364;p30"/>
          <p:cNvSpPr txBox="1"/>
          <p:nvPr/>
        </p:nvSpPr>
        <p:spPr>
          <a:xfrm>
            <a:off x="904875" y="472440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Encryption-at-rest in ADLS.</a:t>
            </a:r>
            <a:endParaRPr/>
          </a:p>
        </p:txBody>
      </p:sp>
      <p:pic>
        <p:nvPicPr>
          <p:cNvPr descr="image.png" id="365" name="Google Shape;36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3002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9481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5960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2440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3" name="Google Shape;37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5040"/>
            <a:ext cx="3492549" cy="2804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65040"/>
            <a:ext cx="3492549" cy="2804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65040"/>
            <a:ext cx="3492549" cy="280407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Path Forward</a:t>
            </a:r>
            <a:endParaRPr/>
          </a:p>
        </p:txBody>
      </p:sp>
      <p:sp>
        <p:nvSpPr>
          <p:cNvPr id="378" name="Google Shape;378;p3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9" name="Google Shape;379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798415"/>
            <a:ext cx="28257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1"/>
          <p:cNvSpPr txBox="1"/>
          <p:nvPr/>
        </p:nvSpPr>
        <p:spPr>
          <a:xfrm>
            <a:off x="904875" y="336991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</a:t>
            </a:r>
            <a:endParaRPr/>
          </a:p>
        </p:txBody>
      </p:sp>
      <p:sp>
        <p:nvSpPr>
          <p:cNvPr id="381" name="Google Shape;381;p31"/>
          <p:cNvSpPr txBox="1"/>
          <p:nvPr/>
        </p:nvSpPr>
        <p:spPr>
          <a:xfrm>
            <a:off x="904875" y="3884265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Replace rule-based scoring with trained Fraud detection models.</a:t>
            </a:r>
            <a:endParaRPr/>
          </a:p>
        </p:txBody>
      </p:sp>
      <p:pic>
        <p:nvPicPr>
          <p:cNvPr descr="image.png" id="382" name="Google Shape;382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83174" y="2798415"/>
            <a:ext cx="28257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1"/>
          <p:cNvSpPr txBox="1"/>
          <p:nvPr/>
        </p:nvSpPr>
        <p:spPr>
          <a:xfrm>
            <a:off x="4683174" y="336991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Anomaly Detection</a:t>
            </a:r>
            <a:endParaRPr/>
          </a:p>
        </p:txBody>
      </p:sp>
      <p:sp>
        <p:nvSpPr>
          <p:cNvPr id="384" name="Google Shape;384;p31"/>
          <p:cNvSpPr txBox="1"/>
          <p:nvPr/>
        </p:nvSpPr>
        <p:spPr>
          <a:xfrm>
            <a:off x="4683174" y="3884265"/>
            <a:ext cx="28257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Automated statistical drift detection on transaction distributions.</a:t>
            </a:r>
            <a:endParaRPr/>
          </a:p>
        </p:txBody>
      </p:sp>
      <p:pic>
        <p:nvPicPr>
          <p:cNvPr descr="image.png" id="385" name="Google Shape;385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61474" y="2798415"/>
            <a:ext cx="28257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1"/>
          <p:cNvSpPr txBox="1"/>
          <p:nvPr/>
        </p:nvSpPr>
        <p:spPr>
          <a:xfrm>
            <a:off x="8461474" y="336991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Cost Optimization</a:t>
            </a:r>
            <a:endParaRPr/>
          </a:p>
        </p:txBody>
      </p:sp>
      <p:sp>
        <p:nvSpPr>
          <p:cNvPr id="387" name="Google Shape;387;p31"/>
          <p:cNvSpPr txBox="1"/>
          <p:nvPr/>
        </p:nvSpPr>
        <p:spPr>
          <a:xfrm>
            <a:off x="8461474" y="3884265"/>
            <a:ext cx="28257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Workload-aware routing between Fabric and Snowflake.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2"/>
          <p:cNvSpPr txBox="1"/>
          <p:nvPr/>
        </p:nvSpPr>
        <p:spPr>
          <a:xfrm>
            <a:off x="4180760" y="1842194"/>
            <a:ext cx="3830478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394" name="Google Shape;394;p32"/>
          <p:cNvSpPr txBox="1"/>
          <p:nvPr/>
        </p:nvSpPr>
        <p:spPr>
          <a:xfrm>
            <a:off x="4838700" y="2882205"/>
            <a:ext cx="2514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Questions &amp; Discussion</a:t>
            </a:r>
            <a:endParaRPr/>
          </a:p>
        </p:txBody>
      </p:sp>
      <p:sp>
        <p:nvSpPr>
          <p:cNvPr id="395" name="Google Shape;395;p32"/>
          <p:cNvSpPr txBox="1"/>
          <p:nvPr/>
        </p:nvSpPr>
        <p:spPr>
          <a:xfrm>
            <a:off x="3224212" y="4124176"/>
            <a:ext cx="5743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Team: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Mahmoud Saad • Alfred Farag • Mariam Safwat • Zainab Mohamed</a:t>
            </a:r>
            <a:endParaRPr/>
          </a:p>
        </p:txBody>
      </p:sp>
      <p:sp>
        <p:nvSpPr>
          <p:cNvPr id="396" name="Google Shape;396;p32"/>
          <p:cNvSpPr txBox="1"/>
          <p:nvPr/>
        </p:nvSpPr>
        <p:spPr>
          <a:xfrm>
            <a:off x="3224212" y="4569916"/>
            <a:ext cx="5743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Attijari wafa Bank Data Pipeline © 2026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403" name="Google Shape;403;p3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571500" y="181094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571500" y="259571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571500" y="338048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571500" y="416525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571500" y="258618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571500" y="258618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571500" y="33709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571500" y="33709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571500" y="41557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571500" y="41557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571500" y="49404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571500" y="49404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6" name="Google Shape;41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03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3"/>
          <p:cNvSpPr txBox="1"/>
          <p:nvPr/>
        </p:nvSpPr>
        <p:spPr>
          <a:xfrm>
            <a:off x="1666875" y="195381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https://images.stockcake.com/public/3/c/1/3c1f0bc5-1a71-441a-a983-4764f59571ce_medium/neon-pipeline-network-stockcake.jpg</a:t>
            </a:r>
            <a:endParaRPr/>
          </a:p>
        </p:txBody>
      </p:sp>
      <p:sp>
        <p:nvSpPr>
          <p:cNvPr id="418" name="Google Shape;418;p33"/>
          <p:cNvSpPr txBox="1"/>
          <p:nvPr/>
        </p:nvSpPr>
        <p:spPr>
          <a:xfrm>
            <a:off x="1666875" y="219953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stockcake.com</a:t>
            </a:r>
            <a:endParaRPr/>
          </a:p>
        </p:txBody>
      </p:sp>
      <p:pic>
        <p:nvPicPr>
          <p:cNvPr descr="image.png" id="419" name="Google Shape;41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451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3"/>
          <p:cNvSpPr txBox="1"/>
          <p:nvPr/>
        </p:nvSpPr>
        <p:spPr>
          <a:xfrm>
            <a:off x="1666875" y="273858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https://moroccantraveltrips.com/wp-content/uploads/2026/06/ATM-Euronet.jpg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1666875" y="298430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moroccantraveltrips.com</a:t>
            </a:r>
            <a:endParaRPr/>
          </a:p>
        </p:txBody>
      </p:sp>
      <p:pic>
        <p:nvPicPr>
          <p:cNvPr descr="image.png" id="422" name="Google Shape;42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299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3"/>
          <p:cNvSpPr txBox="1"/>
          <p:nvPr/>
        </p:nvSpPr>
        <p:spPr>
          <a:xfrm>
            <a:off x="1666875" y="352335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https://assets.qlik.com/image/upload/w_2378/q_auto/qlik/glossary/dashboard-examples/seo-hero-financial-dashboards_ttulhs.png</a:t>
            </a:r>
            <a:endParaRPr/>
          </a:p>
        </p:txBody>
      </p:sp>
      <p:sp>
        <p:nvSpPr>
          <p:cNvPr id="424" name="Google Shape;424;p33"/>
          <p:cNvSpPr txBox="1"/>
          <p:nvPr/>
        </p:nvSpPr>
        <p:spPr>
          <a:xfrm>
            <a:off x="1666875" y="376907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www.qlik.com</a:t>
            </a:r>
            <a:endParaRPr/>
          </a:p>
        </p:txBody>
      </p:sp>
      <p:pic>
        <p:nvPicPr>
          <p:cNvPr descr="image.png" id="425" name="Google Shape;42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146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3"/>
          <p:cNvSpPr txBox="1"/>
          <p:nvPr/>
        </p:nvSpPr>
        <p:spPr>
          <a:xfrm>
            <a:off x="1666875" y="430812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https://thumb.r2.moele.me/t/31917/31907905/a-0005.jpg</a:t>
            </a:r>
            <a:endParaRPr/>
          </a:p>
        </p:txBody>
      </p:sp>
      <p:sp>
        <p:nvSpPr>
          <p:cNvPr id="427" name="Google Shape;427;p33"/>
          <p:cNvSpPr txBox="1"/>
          <p:nvPr/>
        </p:nvSpPr>
        <p:spPr>
          <a:xfrm>
            <a:off x="1666875" y="45538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www.motionelements.com</a:t>
            </a:r>
            <a:endParaRPr/>
          </a:p>
        </p:txBody>
      </p:sp>
      <p:pic>
        <p:nvPicPr>
          <p:cNvPr descr="image.png" id="428" name="Google Shape;428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985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3"/>
          <p:cNvSpPr txBox="1"/>
          <p:nvPr/>
        </p:nvSpPr>
        <p:spPr>
          <a:xfrm>
            <a:off x="1666875" y="509289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https://static.vecteezy.com/system/resources/previews/077/899/152/large_2x/african-american-and-asian-colleagues-work-side-by-side-analyzing-source-code-and-data-on-desktop-monitors-focused-programmers-collaborate-to-enhance-web-development-projects-in-modern-office-photo.jpg</a:t>
            </a:r>
            <a:endParaRPr/>
          </a:p>
        </p:txBody>
      </p:sp>
      <p:sp>
        <p:nvSpPr>
          <p:cNvPr id="430" name="Google Shape;430;p33"/>
          <p:cNvSpPr txBox="1"/>
          <p:nvPr/>
        </p:nvSpPr>
        <p:spPr>
          <a:xfrm>
            <a:off x="1666875" y="553670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